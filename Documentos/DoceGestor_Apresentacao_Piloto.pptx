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33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9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954A"/>
                </a:solidFill>
              </a:defRPr>
            </a:pPr>
            <a:r>
              <a:t>PLANO ESTRATÉGICO &amp; CRONOGRAMA DE IMPLANTAÇÃO</a:t>
            </a:r>
          </a:p>
          <a:p>
            <a:pPr>
              <a:spcBef>
                <a:spcPts val="1000"/>
              </a:spcBef>
              <a:defRPr sz="3200" b="1">
                <a:solidFill>
                  <a:srgbClr val="B33951"/>
                </a:solidFill>
              </a:defRPr>
            </a:pPr>
            <a:r>
              <a:t>Doce Gestor — Sistema Web Multiempresa</a:t>
            </a:r>
          </a:p>
          <a:p>
            <a:pPr>
              <a:spcBef>
                <a:spcPts val="800"/>
              </a:spcBef>
              <a:defRPr sz="1800">
                <a:solidFill>
                  <a:srgbClr val="8C533E"/>
                </a:solidFill>
              </a:defRPr>
            </a:pPr>
            <a:r>
              <a:t>Especializado para Confeitarias Caseiras e Negócios de Alimentação</a:t>
            </a:r>
          </a:p>
          <a:p>
            <a:pPr>
              <a:spcBef>
                <a:spcPts val="2000"/>
              </a:spcBef>
              <a:defRPr sz="1400">
                <a:solidFill>
                  <a:srgbClr val="2B2523"/>
                </a:solidFill>
              </a:defRPr>
            </a:pPr>
            <a:r>
              <a:t>• Arquitetura Multi-Tenant isolada por E-mail e Licença</a:t>
            </a:r>
            <a:br/>
            <a:r>
              <a:t>• Wireframes das Telas Essenciais (Fichas Técnicas, Cardápio Digital e Pedidos)</a:t>
            </a:r>
            <a:br/>
            <a:r>
              <a:t>• Opinião Técnica e Passo a Passo para Apresentação às Clientes Piloto</a:t>
            </a:r>
          </a:p>
          <a:p>
            <a:pPr>
              <a:spcBef>
                <a:spcPts val="3000"/>
              </a:spcBef>
              <a:defRPr sz="1100">
                <a:solidFill>
                  <a:srgbClr val="736964"/>
                </a:solidFill>
              </a:defRPr>
            </a:pPr>
            <a:r>
              <a:t>Visão de Engenharia &amp; Arquitetura de Software |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954A"/>
                </a:solidFill>
              </a:defRPr>
            </a:pPr>
            <a:r>
              <a:t>DOCE GESTOR • SISTEMA DE GESTÃO PARA CONFEITARIAS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523"/>
                </a:solidFill>
              </a:defRPr>
            </a:pPr>
            <a:r>
              <a:t>Opinião Técnica Honesta: Onde Começar e Por Quê?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109728"/>
          </a:xfrm>
          <a:prstGeom prst="rect">
            <a:avLst/>
          </a:prstGeom>
          <a:solidFill>
            <a:srgbClr val="B33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33951"/>
                </a:solidFill>
              </a:defRPr>
            </a:pPr>
            <a:r>
              <a:t>1. O Choque de Realidade do Nicho</a:t>
            </a:r>
          </a:p>
          <a:p>
            <a:pPr>
              <a:spcBef>
                <a:spcPts val="1200"/>
              </a:spcBef>
              <a:defRPr sz="1200">
                <a:solidFill>
                  <a:srgbClr val="2B2523"/>
                </a:solidFill>
              </a:defRPr>
            </a:pPr>
            <a:r>
              <a:t>A confeiteira caseira trabalha sozinha ou com um ajudante. Ela não é operadora de ERP. Seu tempo é dividido entre as panelas, o forno e responder clientes no WhatsApp.</a:t>
            </a:r>
            <a:br/>
            <a:br/>
            <a:r>
              <a:t>Sistemas genéricos falham porque exigem burocracia contábil pesada antes de entregar qualquer valor prático.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109728"/>
          </a:xfrm>
          <a:prstGeom prst="rect">
            <a:avLst/>
          </a:prstGeom>
          <a:solidFill>
            <a:srgbClr val="D4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954A"/>
                </a:solidFill>
              </a:defRPr>
            </a:pPr>
            <a:r>
              <a:t>2. A Dor Primária: 'Tenho Lucro ou Prejuízo?'</a:t>
            </a:r>
          </a:p>
          <a:p>
            <a:pPr>
              <a:spcBef>
                <a:spcPts val="1200"/>
              </a:spcBef>
              <a:defRPr sz="1200">
                <a:solidFill>
                  <a:srgbClr val="2B2523"/>
                </a:solidFill>
              </a:defRPr>
            </a:pPr>
            <a:r>
              <a:t>A dor nº 1 de toda confeiteira é a PRECIFICAÇÃO. Elas compram leite condensado, gastam gás, usam fitas e forminhas, mas vendem o bolo no 'chute' ou olhando o preço da vizinha.</a:t>
            </a:r>
            <a:br/>
            <a:br/>
            <a:r>
              <a:t>Se o sistema calcular o custo exato por grama e sugerir o preço de venda justo no primeiro dia, o sistema se vende sozinho.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83280" cy="109728"/>
          </a:xfrm>
          <a:prstGeom prst="rect">
            <a:avLst/>
          </a:prstGeom>
          <a:solidFill>
            <a:srgbClr val="8C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C533E"/>
                </a:solidFill>
              </a:defRPr>
            </a:pPr>
            <a:r>
              <a:t>3. Diagnóstico do Código Atual</a:t>
            </a:r>
          </a:p>
          <a:p>
            <a:pPr>
              <a:spcBef>
                <a:spcPts val="1200"/>
              </a:spcBef>
              <a:defRPr sz="1200">
                <a:solidFill>
                  <a:srgbClr val="2B2523"/>
                </a:solidFill>
              </a:defRPr>
            </a:pPr>
            <a:r>
              <a:t>O projeto atual tem um módulo de Funcionários muito bem desenhado (comissões, histórico, folha). Isso é fantástico para a Fase 2!</a:t>
            </a:r>
            <a:br/>
            <a:br/>
            <a:r>
              <a:t>Porém, para as CLIENTES PILOTO caseiras, devemos priorizar: Multi-tenant -&gt; Insumos/Ficha Técnica -&gt; Cardápio com Link de Pedido. Funcionários vêm em seguida.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954A"/>
                </a:solidFill>
              </a:defRPr>
            </a:pPr>
            <a:r>
              <a:t>DOCE GESTOR • SISTEMA DE GESTÃO PARA CONFEITARIAS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523"/>
                </a:solidFill>
              </a:defRPr>
            </a:pPr>
            <a:r>
              <a:t>Arquitetura Multi-Tenant: Isolamento e Controle de Licença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37160" cy="1280160"/>
          </a:xfrm>
          <a:prstGeom prst="rect">
            <a:avLst/>
          </a:prstGeom>
          <a:solidFill>
            <a:srgbClr val="B33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2523"/>
                </a:solidFill>
              </a:defRPr>
            </a:pPr>
            <a:r>
              <a:t>Isolamento Rigoroso por E-mail &amp; Tenant ID</a:t>
            </a:r>
          </a:p>
          <a:p>
            <a:pPr>
              <a:spcBef>
                <a:spcPts val="400"/>
              </a:spcBef>
              <a:defRPr sz="1150">
                <a:solidFill>
                  <a:srgbClr val="736964"/>
                </a:solidFill>
              </a:defRPr>
            </a:pPr>
            <a:r>
              <a:t>• Cada confeitaria possui seu próprio registro em tb_empresa.</a:t>
            </a:r>
            <a:br/>
            <a:r>
              <a:t>• O e-mail de login é o identificador mestre do ateliê.</a:t>
            </a:r>
            <a:br/>
            <a:r>
              <a:t>• TODAS as queries no banco filtram obrigatoriamente WHERE empresa_id = ?.</a:t>
            </a:r>
            <a:br/>
            <a:r>
              <a:t>• Zero risco de vazamento de dados de receitas ou clientes entre confeitarias concorrentes.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37160" cy="1280160"/>
          </a:xfrm>
          <a:prstGeom prst="rect">
            <a:avLst/>
          </a:prstGeom>
          <a:solidFill>
            <a:srgbClr val="D4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2523"/>
                </a:solidFill>
              </a:defRPr>
            </a:pPr>
            <a:r>
              <a:t>Controle por Chave Serial &amp; Licença</a:t>
            </a:r>
          </a:p>
          <a:p>
            <a:pPr>
              <a:spcBef>
                <a:spcPts val="400"/>
              </a:spcBef>
              <a:defRPr sz="1150">
                <a:solidFill>
                  <a:srgbClr val="736964"/>
                </a:solidFill>
              </a:defRPr>
            </a:pPr>
            <a:r>
              <a:t>• tb_empresa conterá campos de licença: chave_serial, tipo_plano, status_licenca e data_expiracao.</a:t>
            </a:r>
            <a:br/>
            <a:r>
              <a:t>• Modelo Inicial: 15 dias de teste grátis (Trial).</a:t>
            </a:r>
            <a:br/>
            <a:r>
              <a:t>• Ativação definitiva via Serial Gerado pelo Administrador ou renovação por assinatura mensal.</a:t>
            </a:r>
            <a:br/>
            <a:r>
              <a:t>• Middleware de segurança que bloqueia o acesso caso a licença expire.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37160" cy="1280160"/>
          </a:xfrm>
          <a:prstGeom prst="rect">
            <a:avLst/>
          </a:prstGeom>
          <a:solidFill>
            <a:srgbClr val="8C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2523"/>
                </a:solidFill>
              </a:defRPr>
            </a:pPr>
            <a:r>
              <a:t>Transição Fluida: SQLite Local ➔ Nuvem Turso</a:t>
            </a:r>
          </a:p>
          <a:p>
            <a:pPr>
              <a:spcBef>
                <a:spcPts val="400"/>
              </a:spcBef>
              <a:defRPr sz="1150">
                <a:solidFill>
                  <a:srgbClr val="736964"/>
                </a:solidFill>
              </a:defRPr>
            </a:pPr>
            <a:r>
              <a:t>• O backend já utiliza @libsql/client. Isso é uma escolha de engenharia genial!</a:t>
            </a:r>
            <a:br/>
            <a:r>
              <a:t>• Em desenvolvimento: roda no arquivo local doce-gestor.db sem custos de servidor.</a:t>
            </a:r>
            <a:br/>
            <a:r>
              <a:t>• Em produção comercial: a mesma biblioteca conecta diretamente ao cluster Turso (LibSQL Serverless) apenas trocando uma variável de ambiente.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954A"/>
                </a:solidFill>
              </a:defRPr>
            </a:pPr>
            <a:r>
              <a:t>DOCE GESTOR • SISTEMA DE GESTÃO PARA CONFEITARIAS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523"/>
                </a:solidFill>
              </a:defRPr>
            </a:pPr>
            <a:r>
              <a:t>Tela Essencial 1: Insumos, Fichas Técnicas &amp; Formação de Preço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6583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33951"/>
                </a:solidFill>
              </a:defRPr>
            </a:pPr>
            <a:r>
              <a:t>🎂 RECEITA: Bolo Red Velvet com Ninho (Rendimento: 1 Bolo 1.8kg)</a:t>
            </a:r>
          </a:p>
          <a:p>
            <a:pPr>
              <a:defRPr sz="1000">
                <a:solidFill>
                  <a:srgbClr val="2B2523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</a:t>
            </a:r>
            <a:br/>
            <a:r>
              <a:t>Ingrediente            Qtd Usada     Embalagem/Preço      Custo Real</a:t>
            </a:r>
            <a:br/>
            <a:r>
              <a:t>Leite Condensado       395g          395g  - R$ 6,50      R$ 6,50</a:t>
            </a:r>
            <a:br/>
            <a:r>
              <a:t>Farinha de Trigo       300g          1000g - R$ 5,00      R$ 1,50</a:t>
            </a:r>
            <a:br/>
            <a:r>
              <a:t>Cream Cheese           250g          300g  - R$ 14,00     R$ 11,66</a:t>
            </a:r>
            <a:br/>
            <a:r>
              <a:t>Manteiga Extra         100g          200g  - R$ 12,00     R$ 6,00</a:t>
            </a:r>
            <a:br/>
            <a:r>
              <a:t>Embalagem / Cakeboard  1 un          1 un  - R$ 4,50      R$ 4,50</a:t>
            </a:r>
            <a:br/>
            <a:r>
              <a:t>───────────────────────────────────────────────────────</a:t>
            </a:r>
            <a:br/>
            <a:r>
              <a:t>Subtotal Ingredientes + Embalagem:                      R$ 30,16</a:t>
            </a:r>
            <a:br/>
            <a:r>
              <a:t>Custos Fixos (Gás, Energia, Água - 15%):                R$  4,52</a:t>
            </a:r>
            <a:br/>
            <a:r>
              <a:t>Mão de Obra da Confeiteira (1.5h a R$ 20/h):            R$ 30,00</a:t>
            </a:r>
            <a:br/>
            <a:r>
              <a:t>═══════════════════════════════════════════════════════</a:t>
            </a:r>
            <a:br/>
            <a:r>
              <a:t>CUSTO TOTAL DE PRODUÇÃO:                                R$ 64,68</a:t>
            </a:r>
            <a:br/>
            <a:r>
              <a:t>Margem de Lucro Desejada (100% s/ custo):              +R$ 64,68</a:t>
            </a:r>
            <a:br/>
            <a:r>
              <a:t>PREÇO SUGERIDO DE VENDA:                                R$ 129,36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737360"/>
            <a:ext cx="38404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474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954A"/>
                </a:solidFill>
              </a:defRPr>
            </a:pPr>
            <a:r>
              <a:t>O que essa tela entrega para a confeiteira?</a:t>
            </a:r>
          </a:p>
          <a:p>
            <a:br/>
            <a:pPr>
              <a:defRPr sz="1150">
                <a:solidFill>
                  <a:srgbClr val="2B2523"/>
                </a:solidFill>
              </a:defRPr>
            </a:pPr>
            <a:r>
              <a:t>1. Fim das perdas invisíveis:</a:t>
            </a:r>
            <a:br/>
            <a:r>
              <a:t>O sistema converte gramas, quilos, litros e fardos automaticamente.</a:t>
            </a:r>
            <a:br/>
            <a:br/>
            <a:r>
              <a:t>2. Atualização em cascata:</a:t>
            </a:r>
            <a:br/>
            <a:r>
              <a:t>Se o leite condensado subir no mercado, a confeiteira atualiza o insumo e TODOS os bolos recalculam o custo sozinhos!</a:t>
            </a:r>
            <a:br/>
            <a:br/>
            <a:r>
              <a:t>3. Valorização do trabalho:</a:t>
            </a:r>
            <a:br/>
            <a:r>
              <a:t>Inclui o valor da hora dela na conta. Ela passa a receber salário além do lucro do negócio.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954A"/>
                </a:solidFill>
              </a:defRPr>
            </a:pPr>
            <a:r>
              <a:t>DOCE GESTOR • SISTEMA DE GESTÃO PARA CONFEITARIAS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523"/>
                </a:solidFill>
              </a:defRPr>
            </a:pPr>
            <a:r>
              <a:t>Tela Essencial 2: Cardápio Digital Público &amp; Pedido via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2062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36964"/>
                </a:solidFill>
              </a:defRPr>
            </a:pPr>
            <a:r>
              <a:t>📱 docegestor.com.br/atelie-doce-afeto</a:t>
            </a:r>
            <a:br/>
          </a:p>
          <a:p>
            <a:pPr>
              <a:defRPr sz="1200" b="1">
                <a:solidFill>
                  <a:srgbClr val="B33951"/>
                </a:solidFill>
              </a:defRPr>
            </a:pPr>
            <a:r>
              <a:t>🧁 Ateliê Açúcar &amp; Afeto</a:t>
            </a:r>
            <a:br/>
            <a:r>
              <a:t>Bolos artesanais, doces e kits festa com amor.</a:t>
            </a:r>
            <a:br/>
          </a:p>
          <a:p>
            <a:pPr>
              <a:defRPr sz="950">
                <a:solidFill>
                  <a:srgbClr val="2B2523"/>
                </a:solidFill>
                <a:latin typeface="Consolas"/>
              </a:defRPr>
            </a:pPr>
            <a:r>
              <a:t>Categorias: [Bolos] [Doces Finos] [Kits Festa]</a:t>
            </a:r>
            <a:br/>
            <a:r>
              <a:t>───────────────────────────────────</a:t>
            </a:r>
            <a:br/>
            <a:r>
              <a:t>🎂 Bolo Vulcão Ninho c/ Nutella   R$ 65,00</a:t>
            </a:r>
            <a:br/>
            <a:r>
              <a:t>   Massa fofinha de chocolate e muito recheio.</a:t>
            </a:r>
            <a:br/>
            <a:r>
              <a:t>   [ + Adicionar ao Pedido ]</a:t>
            </a:r>
            <a:br/>
            <a:br/>
            <a:r>
              <a:t>🍓 Copo da Felicidade Morango     R$ 22,00</a:t>
            </a:r>
            <a:br/>
            <a:r>
              <a:t>   Brigadeiro branco, geleia e brownie.</a:t>
            </a:r>
            <a:br/>
            <a:r>
              <a:t>   [ + Adicionar ao Pedido ]</a:t>
            </a:r>
            <a:br/>
            <a:r>
              <a:t>───────────────────────────────────</a:t>
            </a:r>
            <a:br/>
            <a:r>
              <a:t>🛒 Seu Carrinho: 2 itens (R$ 87,00)</a:t>
            </a:r>
            <a:br/>
            <a:r>
              <a:t>📅 Data p/ Retirada: Sábado, 15:00</a:t>
            </a:r>
            <a:br/>
            <a:r>
              <a:t>👉 [ ENVIAR PEDIDO NO WHATSAPP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737360"/>
            <a:ext cx="62179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92024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954A"/>
                </a:solidFill>
              </a:defRPr>
            </a:pPr>
            <a:r>
              <a:t>Como funciona o fluxo de pedidos das clientes piloto?</a:t>
            </a:r>
          </a:p>
          <a:p>
            <a:pPr>
              <a:spcBef>
                <a:spcPts val="800"/>
              </a:spcBef>
              <a:defRPr sz="1100">
                <a:solidFill>
                  <a:srgbClr val="2B2523"/>
                </a:solidFill>
              </a:defRPr>
            </a:pPr>
            <a:r>
              <a:t>1. Divulgação Simples: A confeiteira coloca o link na bio do Instagram e no status do WhatsApp.</a:t>
            </a:r>
          </a:p>
          <a:p>
            <a:pPr>
              <a:spcBef>
                <a:spcPts val="800"/>
              </a:spcBef>
              <a:defRPr sz="1100">
                <a:solidFill>
                  <a:srgbClr val="2B2523"/>
                </a:solidFill>
              </a:defRPr>
            </a:pPr>
            <a:r>
              <a:t>2. Autoatendimento sem Atrito: O cliente entra pelo celular, vê fotos reais, preços, escolhe recheios e não precisa instalar nenhum app.</a:t>
            </a:r>
          </a:p>
          <a:p>
            <a:pPr>
              <a:spcBef>
                <a:spcPts val="800"/>
              </a:spcBef>
              <a:defRPr sz="1100">
                <a:solidFill>
                  <a:srgbClr val="2B2523"/>
                </a:solidFill>
              </a:defRPr>
            </a:pPr>
            <a:r>
              <a:t>3. Mensagem Pronta no WhatsApp: Ao finalizar, o sistema abre o WhatsApp da confeiteira com a mensagem 100% formatada: itens, adicionais, data, horário e valor total.</a:t>
            </a:r>
          </a:p>
          <a:p>
            <a:pPr>
              <a:spcBef>
                <a:spcPts val="800"/>
              </a:spcBef>
              <a:defRPr sz="1100">
                <a:solidFill>
                  <a:srgbClr val="2B2523"/>
                </a:solidFill>
              </a:defRPr>
            </a:pPr>
            <a:r>
              <a:t>4. Registro Automático no Painel: O pedido cai automaticamente na tela de encomendas do sistema com status 'Pendente / Orçamento', pronto para a confeiteira confirmar.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954A"/>
                </a:solidFill>
              </a:defRPr>
            </a:pPr>
            <a:r>
              <a:t>DOCE GESTOR • SISTEMA DE GESTÃO PARA CONFEITARIAS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523"/>
                </a:solidFill>
              </a:defRPr>
            </a:pPr>
            <a:r>
              <a:t>Tela Essencial 3: Quadro de Encomendas &amp; Agenda de Produção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33951"/>
                </a:solidFill>
              </a:defRPr>
            </a:pPr>
            <a:r>
              <a:t>📋 Kanban de Produção &amp; Entregas da Semana</a:t>
            </a:r>
          </a:p>
          <a:p>
            <a:pPr>
              <a:spcBef>
                <a:spcPts val="800"/>
              </a:spcBef>
              <a:defRPr sz="1000">
                <a:solidFill>
                  <a:srgbClr val="2B2523"/>
                </a:solidFill>
                <a:latin typeface="Consolas"/>
              </a:defRPr>
            </a:pPr>
            <a:r>
              <a:t>┌────────────────────┬────────────────────┬────────────────────┬────────────────────┐</a:t>
            </a:r>
            <a:br/>
            <a:r>
              <a:t>│ 📝 NOVO ORÇAMENTO  │ 🧁 CONFIRMADO (50%)│ 🎂 EM PRODUÇÃO     │ ✨ PRONTO / ENTREGUE│</a:t>
            </a:r>
            <a:br/>
            <a:r>
              <a:t>├────────────────────┼────────────────────┼────────────────────┼────────────────────┤</a:t>
            </a:r>
            <a:br/>
            <a:r>
              <a:t>│ #104 - Mariana S.  │ #102 - Camila Lima │ #101 - Festa Lucas │ #099 - Carlos M.   │</a:t>
            </a:r>
            <a:br/>
            <a:r>
              <a:t>│ Bolo 2kg Red Velvet│ 100 Brigadeiros    │ Kit Festa 30 pess. │ Copo Felicidade    │</a:t>
            </a:r>
            <a:br/>
            <a:r>
              <a:t>│ Entrega: Sáb 14h   │ Entrega: Sex 18h   │ Entrega: Sáb 10h   │ Entregue hoje      │</a:t>
            </a:r>
            <a:br/>
            <a:r>
              <a:t>│ Valor: R$ 130,00   │ Sinal R$ 75 PAGO   │ Sinal R$ 150 PAGO  │ R$ 22,00 RECEBIDO  │</a:t>
            </a:r>
            <a:br/>
            <a:r>
              <a:t>│ [Confirmar Sinal]  │ [Iniciar Produção] │ [Avisar no Whats]  │ [Arquivar]         │</a:t>
            </a:r>
            <a:br/>
            <a:r>
              <a:t>└────────────────────┴────────────────────┴────────────────────┴────────────────────┘</a:t>
            </a:r>
            <a:br/>
            <a:br/>
            <a:r>
              <a:t>⭐ Recursos Críticos para Confeiteiras:</a:t>
            </a:r>
            <a:br/>
            <a:r>
              <a:t>• Alerta de Sinal/Entrada: Destaca visualmente se o cliente pagou os 50% para reservar a data.</a:t>
            </a:r>
            <a:br/>
            <a:r>
              <a:t>• Lista de Compras da Semana: O sistema soma os ingredientes de todos os bolos confirmados e gera a lista do supermercado!</a:t>
            </a:r>
            <a:br/>
            <a:r>
              <a:t>• Botão 1-Clique WhatsApp: 'Seu bolo está pronto para retirada!'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954A"/>
                </a:solidFill>
              </a:defRPr>
            </a:pPr>
            <a:r>
              <a:t>DOCE GESTOR • SISTEMA DE GESTÃO PARA CONFEITARIAS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523"/>
                </a:solidFill>
              </a:defRPr>
            </a:pPr>
            <a:r>
              <a:t>Cronograma de Execução: Da Base ao Lançamento Piloto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011680" cy="868680"/>
          </a:xfrm>
          <a:prstGeom prst="rect">
            <a:avLst/>
          </a:prstGeom>
          <a:solidFill>
            <a:srgbClr val="B33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FASE 0 • Semana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10512"/>
            <a:ext cx="8321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2523"/>
                </a:solidFill>
              </a:defRPr>
            </a:pPr>
            <a:r>
              <a:t>Fundação Multi-Tenant &amp; Acesso</a:t>
            </a:r>
          </a:p>
          <a:p>
            <a:pPr>
              <a:defRPr sz="1000">
                <a:solidFill>
                  <a:srgbClr val="736964"/>
                </a:solidFill>
              </a:defRPr>
            </a:pPr>
            <a:r>
              <a:t>• Cadastro self-service da Confeitaria (Nome, WhatsApp, E-mail).  |  • Login seguro por e-mail e isolamento estrito de dados.  |  • Controle de Licença (Trial 15 dias / Chave Serial).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2011680" cy="868680"/>
          </a:xfrm>
          <a:prstGeom prst="rect">
            <a:avLst/>
          </a:prstGeom>
          <a:solidFill>
            <a:srgbClr val="B33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FASE 1 • Semana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70632"/>
            <a:ext cx="8321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2523"/>
                </a:solidFill>
              </a:defRPr>
            </a:pPr>
            <a:r>
              <a:t>Insumos, Receitas &amp; Precificação</a:t>
            </a:r>
          </a:p>
          <a:p>
            <a:pPr>
              <a:defRPr sz="1000">
                <a:solidFill>
                  <a:srgbClr val="736964"/>
                </a:solidFill>
              </a:defRPr>
            </a:pPr>
            <a:r>
              <a:t>• Cadastro de insumos com conversão de unidades (g, kg, ml).  |  • Ficha técnica com cálculo de custo por ingrediente + gás/embalagem.  |  • Simulador de margem de lucro e preço de venda sugerido.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2011680" cy="868680"/>
          </a:xfrm>
          <a:prstGeom prst="rect">
            <a:avLst/>
          </a:prstGeom>
          <a:solidFill>
            <a:srgbClr val="B33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FASE 2 • Semana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30752"/>
            <a:ext cx="8321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2523"/>
                </a:solidFill>
              </a:defRPr>
            </a:pPr>
            <a:r>
              <a:t>Cardápio Digital Público &amp; WhatsApp</a:t>
            </a:r>
          </a:p>
          <a:p>
            <a:pPr>
              <a:defRPr sz="1000">
                <a:solidFill>
                  <a:srgbClr val="736964"/>
                </a:solidFill>
              </a:defRPr>
            </a:pPr>
            <a:r>
              <a:t>• Página pública do cardápio responsiva para celular (/cardapio/nome).  |  • Carrinho de encomendas sem necessidade de login do cliente.  |  • Integração direta para fechar pedido no WhatsApp da confeitaria.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617720"/>
            <a:ext cx="2011680" cy="868680"/>
          </a:xfrm>
          <a:prstGeom prst="rect">
            <a:avLst/>
          </a:prstGeom>
          <a:solidFill>
            <a:srgbClr val="8C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FASE 3 • Semana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90872"/>
            <a:ext cx="8321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2523"/>
                </a:solidFill>
              </a:defRPr>
            </a:pPr>
            <a:r>
              <a:t>Gestão de Encomendas &amp; Produção</a:t>
            </a:r>
          </a:p>
          <a:p>
            <a:pPr>
              <a:defRPr sz="1000">
                <a:solidFill>
                  <a:srgbClr val="736964"/>
                </a:solidFill>
              </a:defRPr>
            </a:pPr>
            <a:r>
              <a:t>• Quadro Kanban de pedidos (Orçamento -&gt; Produção -&gt; Pronto).  |  • Agenda de entregas por dia/hora com controle de sinal (50%).  |  • Lista automática de compras de ingredientes para a semana.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10728655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2011680" cy="868680"/>
          </a:xfrm>
          <a:prstGeom prst="rect">
            <a:avLst/>
          </a:prstGeom>
          <a:solidFill>
            <a:srgbClr val="8C5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FASE 4 • Semana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650992"/>
            <a:ext cx="8321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B2523"/>
                </a:solidFill>
              </a:defRPr>
            </a:pPr>
            <a:r>
              <a:t>Financeiro &amp; Equipe (Conexão do Atual)</a:t>
            </a:r>
          </a:p>
          <a:p>
            <a:pPr>
              <a:defRPr sz="1000">
                <a:solidFill>
                  <a:srgbClr val="736964"/>
                </a:solidFill>
              </a:defRPr>
            </a:pPr>
            <a:r>
              <a:t>• Fluxo de caixa simples (Entradas e Saídas do ateliê).  |  • Integração com o módulo já pronto de Funcionários, comissões e folha.  |  • Painel de lucros mensais consolidados.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954A"/>
                </a:solidFill>
              </a:defRPr>
            </a:pPr>
            <a:r>
              <a:t>DOCE GESTOR • SISTEMA DE GESTÃO PARA CONFEITARIAS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B2523"/>
                </a:solidFill>
              </a:defRPr>
            </a:pPr>
            <a:r>
              <a:t>Estratégia de Validação com as Clientes Piloto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109728"/>
          </a:xfrm>
          <a:prstGeom prst="rect">
            <a:avLst/>
          </a:prstGeom>
          <a:solidFill>
            <a:srgbClr val="B33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33951"/>
                </a:solidFill>
              </a:defRPr>
            </a:pPr>
            <a:r>
              <a:t>1. Seleção (3 a 5 Confeiteiras)</a:t>
            </a:r>
          </a:p>
          <a:p>
            <a:pPr>
              <a:spcBef>
                <a:spcPts val="1200"/>
              </a:spcBef>
              <a:defRPr sz="1200">
                <a:solidFill>
                  <a:srgbClr val="2B2523"/>
                </a:solidFill>
              </a:defRPr>
            </a:pPr>
            <a:r>
              <a:t>• 2 que fazem bolos decorados/encomendas de festa.</a:t>
            </a:r>
            <a:br/>
            <a:r>
              <a:t>• 2 que fazem doces para pronta entrega (copos da felicidade, fatias).</a:t>
            </a:r>
            <a:br/>
            <a:r>
              <a:t>• 1 que já tem um ajudante ou atendente.</a:t>
            </a:r>
            <a:br/>
            <a:br/>
            <a:r>
              <a:t>Essa variedade valida tanto a parte de produção caseira quanto a equipe inicial.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109728"/>
          </a:xfrm>
          <a:prstGeom prst="rect">
            <a:avLst/>
          </a:prstGeom>
          <a:solidFill>
            <a:srgbClr val="D4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4954A"/>
                </a:solidFill>
              </a:defRPr>
            </a:pPr>
            <a:r>
              <a:t>2. O Teste do 'Uau' no Dia 1</a:t>
            </a:r>
          </a:p>
          <a:p>
            <a:pPr>
              <a:spcBef>
                <a:spcPts val="1200"/>
              </a:spcBef>
              <a:defRPr sz="1200">
                <a:solidFill>
                  <a:srgbClr val="2B2523"/>
                </a:solidFill>
              </a:defRPr>
            </a:pPr>
            <a:r>
              <a:t>Cadastre junto com a cliente piloto a receita principal dela.</a:t>
            </a:r>
            <a:br/>
            <a:br/>
            <a:r>
              <a:t>Quando ela ver na tela: 'Seu bolo custa R$ 38,50 para produzir e você vendia a R$ 50,00, sobrando só R$ 11,50', ela ficará impressionada com a clareza do sistema.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83280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7D32"/>
                </a:solidFill>
              </a:defRPr>
            </a:pPr>
            <a:r>
              <a:t>3. Métricas de Sucesso do Piloto</a:t>
            </a:r>
          </a:p>
          <a:p>
            <a:pPr>
              <a:spcBef>
                <a:spcPts val="1200"/>
              </a:spcBef>
              <a:defRPr sz="1200">
                <a:solidFill>
                  <a:srgbClr val="2B2523"/>
                </a:solidFill>
              </a:defRPr>
            </a:pPr>
            <a:r>
              <a:t>• Redução de 70% no tempo gasto explicando cardápio no WhatsApp.</a:t>
            </a:r>
            <a:br/>
            <a:r>
              <a:t>• 100% dos pedidos do fim de semana organizados sem esquecimento.</a:t>
            </a:r>
            <a:br/>
            <a:r>
              <a:t>• Segurança total de que nenhuma encomenda foi entregue sem receber.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